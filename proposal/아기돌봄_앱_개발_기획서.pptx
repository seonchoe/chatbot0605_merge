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FFB87A"/>
          </a:solidFill>
          <a:ln w="12700">
            <a:solidFill>
              <a:srgbClr val="FFB8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2011680" cy="2011680"/>
          </a:xfrm>
          <a:prstGeom prst="ellipse">
            <a:avLst/>
          </a:prstGeom>
          <a:solidFill>
            <a:srgbClr val="EEF8DC"/>
          </a:solidFill>
          <a:ln w="12700">
            <a:solidFill>
              <a:srgbClr val="EEF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🍊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기획서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Baby Care App — Development Planning Document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4572000" cy="27432"/>
          </a:xfrm>
          <a:prstGeom prst="rect">
            <a:avLst/>
          </a:prstGeom>
          <a:solidFill>
            <a:srgbClr val="D8D6CC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구분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712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개발 기획서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80360" y="3712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712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3712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웹 (PWA)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  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1005840"/>
          </a:xfrm>
          <a:prstGeom prst="rect">
            <a:avLst/>
          </a:prstGeom>
          <a:solidFill>
            <a:srgbClr val="FFF0E6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078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135331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및 배경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2743200" cy="1005840"/>
          </a:xfrm>
          <a:prstGeom prst="rect">
            <a:avLst/>
          </a:prstGeom>
          <a:solidFill>
            <a:srgbClr val="FFF0E6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76272"/>
            <a:ext cx="54864" cy="10058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249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5216" y="252374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사용자 분석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2743200" cy="1005840"/>
          </a:xfrm>
          <a:prstGeom prst="rect">
            <a:avLst/>
          </a:prstGeom>
          <a:solidFill>
            <a:srgbClr val="FFF0E6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46704"/>
            <a:ext cx="54864" cy="10058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4198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5216" y="36941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구성 및 핵심 기능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1005840"/>
            <a:ext cx="2743200" cy="1005840"/>
          </a:xfrm>
          <a:prstGeom prst="rect">
            <a:avLst/>
          </a:prstGeom>
          <a:solidFill>
            <a:srgbClr val="EEF8DC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0" y="1005840"/>
            <a:ext cx="54864" cy="1005840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1078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C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11296" y="135331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및 시스템 구성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176272"/>
            <a:ext cx="2743200" cy="1005840"/>
          </a:xfrm>
          <a:prstGeom prst="rect">
            <a:avLst/>
          </a:prstGeom>
          <a:solidFill>
            <a:srgbClr val="EEF8DC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176272"/>
            <a:ext cx="54864" cy="1005840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2249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C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511296" y="252374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서비스 연동 계획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346704"/>
            <a:ext cx="2743200" cy="1005840"/>
          </a:xfrm>
          <a:prstGeom prst="rect">
            <a:avLst/>
          </a:prstGeom>
          <a:solidFill>
            <a:srgbClr val="EEF8DC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346704"/>
            <a:ext cx="54864" cy="1005840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1296" y="34198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C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511296" y="36941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가이드라인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005840"/>
            <a:ext cx="2743200" cy="1005840"/>
          </a:xfrm>
          <a:prstGeom prst="rect">
            <a:avLst/>
          </a:prstGeom>
          <a:solidFill>
            <a:srgbClr val="DCF0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1005840"/>
            <a:ext cx="54864" cy="1005840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1078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37376" y="135331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일정 계획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2176272"/>
            <a:ext cx="2743200" cy="1005840"/>
          </a:xfrm>
          <a:prstGeom prst="rect">
            <a:avLst/>
          </a:prstGeom>
          <a:solidFill>
            <a:srgbClr val="DCF0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2176272"/>
            <a:ext cx="54864" cy="1005840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249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37376" y="252374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관리 계획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346704"/>
            <a:ext cx="2743200" cy="1005840"/>
          </a:xfrm>
          <a:prstGeom prst="rect">
            <a:avLst/>
          </a:prstGeom>
          <a:solidFill>
            <a:srgbClr val="DCF0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3346704"/>
            <a:ext cx="54864" cy="1005840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37376" y="34198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37376" y="369417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프로젝트 개요 및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0E6"/>
          </a:solidFill>
          <a:ln w="12700">
            <a:solidFill>
              <a:srgbClr val="FFB8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영·유아(0~24개월) 부모를 위한 모바일 우선 반응형 웹 애플리케이션으로, 육아 일지·발달 추적·AI 상담을 하나의 플랫폼에 통합한다.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19072"/>
            <a:ext cx="54864" cy="117043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810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😓 기록 분산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20665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수면·수유·배변을 메모장·여러 앱에 분산 기록, 통합 현황 파악 불가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71907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719072"/>
            <a:ext cx="54864" cy="117043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810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일정 누락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91456" y="20665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예방접종·이유식·분유량 변화 시기를 개인이 직접 추적해야 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54864" cy="117043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정보 불신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" y="34107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포털·카페의 신뢰도 불명확한 육아 정보에 의존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63240"/>
            <a:ext cx="54864" cy="117043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진료 불편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34107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비대면 진료 시 건강 기록을 별도로 정리·제출해야 하는 번거로움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3342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본 서비스로 위 4가지 문제를 단일 앱에서 해결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타겟 사용자 분석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520440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타겟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7360" y="13898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0~24개월 영·유아를 둔 부모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연령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37360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25~40세 (밀레니얼·Z세대)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디바이스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24871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중심 (iOS/Android)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맥락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30358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육아 중 한 손 조작, 야간 수유, 이동 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수준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35844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설치 없이 웹에서 즉시 사용 선호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024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니즈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490472"/>
            <a:ext cx="201168" cy="20116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417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앱에서 모든 기록 통합 관리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176272"/>
            <a:ext cx="201168" cy="201168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103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월령별 일정 자동 안내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862072"/>
            <a:ext cx="201168" cy="201168"/>
          </a:xfrm>
          <a:prstGeom prst="ellipse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788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신뢰할 수 있는 즉각적 육아 정보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547872"/>
            <a:ext cx="201168" cy="201168"/>
          </a:xfrm>
          <a:prstGeom prst="ellipse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474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진료 연계 기록 간편 제출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서비스 구성 — 4대 핵심 모듈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011680" cy="3474720"/>
          </a:xfrm>
          <a:prstGeom prst="rect">
            <a:avLst/>
          </a:prstGeom>
          <a:solidFill>
            <a:srgbClr val="FFF0E6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시간표 기록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31136"/>
            <a:ext cx="109728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수면·수유·배변·울음·산책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입력 지원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4005072"/>
            <a:ext cx="1097280" cy="31089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050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960120"/>
            <a:ext cx="2011680" cy="3474720"/>
          </a:xfrm>
          <a:prstGeom prst="rect">
            <a:avLst/>
          </a:prstGeom>
          <a:solidFill>
            <a:srgbClr val="EEF8DC"/>
          </a:solidFill>
          <a:ln w="12700">
            <a:solidFill>
              <a:srgbClr val="8BC4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960120"/>
            <a:ext cx="2011680" cy="54864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C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알람 &amp; 스케줄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231136"/>
            <a:ext cx="1097280" cy="27432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예방접종·이유식·분유량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월령별 자동 생성 + 수동 추가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71800" y="4005072"/>
            <a:ext cx="1097280" cy="310896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40050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2011680" cy="3474720"/>
          </a:xfrm>
          <a:prstGeom prst="rect">
            <a:avLst/>
          </a:prstGeom>
          <a:solidFill>
            <a:srgbClr val="DCF0FF"/>
          </a:solidFill>
          <a:ln w="12700">
            <a:solidFill>
              <a:srgbClr val="4A8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60120"/>
            <a:ext cx="2011680" cy="54864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🩺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5488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 체크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2231136"/>
            <a:ext cx="1097280" cy="27432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발달 마일스톤·체온·복약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내보내기 (비대면 진료)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4005072"/>
            <a:ext cx="1097280" cy="310896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0050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960120"/>
            <a:ext cx="2011680" cy="3474720"/>
          </a:xfrm>
          <a:prstGeom prst="rect">
            <a:avLst/>
          </a:prstGeom>
          <a:solidFill>
            <a:srgbClr val="EDE8F8"/>
          </a:solidFill>
          <a:ln w="12700">
            <a:solidFill>
              <a:srgbClr val="8B6FC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960120"/>
            <a:ext cx="2011680" cy="54864"/>
          </a:xfrm>
          <a:prstGeom prst="rect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90372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69480" y="2231136"/>
            <a:ext cx="1097280" cy="27432"/>
          </a:xfrm>
          <a:prstGeom prst="rect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기반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월령별 맞춤 육아 정보 상담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69480" y="4005072"/>
            <a:ext cx="1097280" cy="310896"/>
          </a:xfrm>
          <a:prstGeom prst="rect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40050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77440" y="2633472"/>
            <a:ext cx="137160" cy="27432"/>
          </a:xfrm>
          <a:prstGeom prst="rect">
            <a:avLst/>
          </a:prstGeom>
          <a:solidFill>
            <a:srgbClr val="D8D6CC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26280" y="2633472"/>
            <a:ext cx="137160" cy="27432"/>
          </a:xfrm>
          <a:prstGeom prst="rect">
            <a:avLst/>
          </a:prstGeom>
          <a:solidFill>
            <a:srgbClr val="D8D6CC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2633472"/>
            <a:ext cx="137160" cy="27432"/>
          </a:xfrm>
          <a:prstGeom prst="rect">
            <a:avLst/>
          </a:prstGeom>
          <a:solidFill>
            <a:srgbClr val="D8D6CC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핵심 기능 상세 — 기록 &amp; 스케줄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시간표 기록 모듈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493776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😴 수면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91640" y="1353312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시작·종료 시각 → 총 수면 시간 자동 계산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🍼 수유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91640" y="1920240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모유/분유 선택, 수유량(ml) → 일일 합계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4114800" cy="493776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87168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🚼 배변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91640" y="2487168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소변/대변, 변 상태 → 일일 횟수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54096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😢 울음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1640" y="3054096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시간·강도, 오디오 녹음 가능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21024"/>
            <a:ext cx="4114800" cy="493776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21024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산책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0" y="3621024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시간·장소·날씨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음성 입력 지원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알람 &amp; 스케줄 모듈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353312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353312"/>
            <a:ext cx="45720" cy="4937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35331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생성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135331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월령 기반 예방접종·이유식·분유량 일정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920240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920240"/>
            <a:ext cx="45720" cy="493776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92024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추가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1920240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Enter/버튼, 날짜·시간·알림 설정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487168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487168"/>
            <a:ext cx="45720" cy="493776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48716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C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처리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248716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 애니메이션, 완료 목록 아카이빙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054096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054096"/>
            <a:ext cx="45720" cy="493776"/>
          </a:xfrm>
          <a:prstGeom prst="rect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054096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 연계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06440" y="3054096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"더 알아보기" → 챗봇 자동 질문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21024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621024"/>
            <a:ext cx="45720" cy="493776"/>
          </a:xfrm>
          <a:prstGeom prst="rect">
            <a:avLst/>
          </a:prstGeom>
          <a:solidFill>
            <a:srgbClr val="3DADA0"/>
          </a:solidFill>
          <a:ln w="12700">
            <a:solidFill>
              <a:srgbClr val="3DAD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621024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A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발송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06440" y="3621024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D-1·당일 Web Push 알림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핵심 기능 상세 — 건강 체크 &amp; AI 챗봇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 체크 모듈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566928"/>
          </a:xfrm>
          <a:prstGeom prst="rect">
            <a:avLst/>
          </a:prstGeom>
          <a:solidFill>
            <a:srgbClr val="DCF0FF"/>
          </a:solidFill>
          <a:ln w="12700">
            <a:solidFill>
              <a:srgbClr val="4A8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533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발달 체크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0" y="13533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월령별 마일스톤 체크리스트, 달성일 기록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566928"/>
          </a:xfrm>
          <a:prstGeom prst="rect">
            <a:avLst/>
          </a:prstGeom>
          <a:solidFill>
            <a:srgbClr val="DCF0FF"/>
          </a:solidFill>
          <a:ln w="12700">
            <a:solidFill>
              <a:srgbClr val="4A8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1168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건강 기록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체온 그래프, 피부 사진, 주요 증상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4114800" cy="566928"/>
          </a:xfrm>
          <a:prstGeom prst="rect">
            <a:avLst/>
          </a:prstGeom>
          <a:solidFill>
            <a:srgbClr val="DCF0FF"/>
          </a:solidFill>
          <a:ln w="12700">
            <a:solidFill>
              <a:srgbClr val="4A8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7004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복약 정보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2670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이름·용량·횟수, 스케줄 자동 반영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28416"/>
            <a:ext cx="4114800" cy="566928"/>
          </a:xfrm>
          <a:prstGeom prst="rect">
            <a:avLst/>
          </a:prstGeom>
          <a:solidFill>
            <a:srgbClr val="DCF0FF"/>
          </a:solidFill>
          <a:ln w="12700">
            <a:solidFill>
              <a:srgbClr val="4A8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32841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내보내기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332841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7일 기록 PDF 정리 → 비대면 진료 첨부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모듈 (Claude API)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353312"/>
            <a:ext cx="2194560" cy="475488"/>
          </a:xfrm>
          <a:prstGeom prst="rect">
            <a:avLst/>
          </a:prstGeom>
          <a:solidFill>
            <a:srgbClr val="EDE8F8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533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예방접종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5910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접종 종류, 시기, 전후 주의사항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90195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9019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이유식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1396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시기, 초기 재료, 레시피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450592"/>
            <a:ext cx="2194560" cy="475488"/>
          </a:xfrm>
          <a:prstGeom prst="rect">
            <a:avLst/>
          </a:prstGeom>
          <a:solidFill>
            <a:srgbClr val="EDE8F8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4505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발달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68833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 기준, 연습 방법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9440" y="135331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3533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15910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통잠 훈련, 낮잠 스케줄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49440" y="1901952"/>
            <a:ext cx="2194560" cy="475488"/>
          </a:xfrm>
          <a:prstGeom prst="rect">
            <a:avLst/>
          </a:prstGeom>
          <a:solidFill>
            <a:srgbClr val="EDE8F8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9019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수유·분유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21396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적정량, 야간 수유 조절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49440" y="24505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24505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268833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월령별 용품·장난감 추천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017520"/>
            <a:ext cx="4114800" cy="594360"/>
          </a:xfrm>
          <a:prstGeom prst="rect">
            <a:avLst/>
          </a:prstGeom>
          <a:solidFill>
            <a:srgbClr val="FFF8E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17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의학적 판단이 필요한 사안은 "반드시 전문의와 상담하세요" 문구를 모든 답변에 자동 포함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기술 스택 및 시스템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3291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35608"/>
            <a:ext cx="73152" cy="7315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624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— 시맨틱 마크업, PWA manifest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892808"/>
            <a:ext cx="73152" cy="7315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96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— 변수 기반 디자인 시스템, Grid/Flex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350008"/>
            <a:ext cx="73152" cy="7315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768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JavaScript (ES6+) — 모듈 패턴, 라이브러리 비사용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974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697480" cy="329184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6012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435608"/>
            <a:ext cx="73152" cy="73152"/>
          </a:xfrm>
          <a:prstGeom prst="ellipse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3624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— 설정·텍스트 기록 (최대 5MB)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1892808"/>
            <a:ext cx="73152" cy="73152"/>
          </a:xfrm>
          <a:prstGeom prst="ellipse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8196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— 사진·오디오·대용량 데이터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960120"/>
            <a:ext cx="26974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960120"/>
            <a:ext cx="2697480" cy="329184"/>
          </a:xfrm>
          <a:prstGeom prst="rect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96012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435608"/>
            <a:ext cx="73152" cy="73152"/>
          </a:xfrm>
          <a:prstGeom prst="ellipse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3624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API — claude-sonnet-4-5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1892808"/>
            <a:ext cx="73152" cy="73152"/>
          </a:xfrm>
          <a:prstGeom prst="ellipse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8196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Workers — API 키 보안 프록시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2350008"/>
            <a:ext cx="73152" cy="73152"/>
          </a:xfrm>
          <a:prstGeom prst="ellipse">
            <a:avLst/>
          </a:prstGeom>
          <a:solidFill>
            <a:srgbClr val="8B6FCA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2768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Prompt에 아이 월령 컨텍스트 주입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83080" y="3063240"/>
            <a:ext cx="26974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783080" y="3063240"/>
            <a:ext cx="2697480" cy="329184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30632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0240" y="3538728"/>
            <a:ext cx="73152" cy="73152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7400" y="34655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— 음성 인식 (한국어)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3995928"/>
            <a:ext cx="73152" cy="73152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39227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input[capture] — 카메라 촬영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20240" y="4453128"/>
            <a:ext cx="73152" cy="73152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43799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Push API + SW — 푸시 알림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20240" y="4910328"/>
            <a:ext cx="73152" cy="73152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48371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API — 오디오 녹음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3063240"/>
            <a:ext cx="26974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063240"/>
            <a:ext cx="2697480" cy="329184"/>
          </a:xfrm>
          <a:prstGeom prst="rect">
            <a:avLst/>
          </a:prstGeom>
          <a:solidFill>
            <a:srgbClr val="3DADA0"/>
          </a:solidFill>
          <a:ln w="12700">
            <a:solidFill>
              <a:srgbClr val="3DAD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30632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&amp; 인프라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3538728"/>
            <a:ext cx="73152" cy="73152"/>
          </a:xfrm>
          <a:prstGeom prst="ellipse">
            <a:avLst/>
          </a:prstGeom>
          <a:solidFill>
            <a:srgbClr val="3DADA0"/>
          </a:solidFill>
          <a:ln w="12700">
            <a:solidFill>
              <a:srgbClr val="3DAD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4655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무료 플랜 — GitHub 연동 자동 배포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995928"/>
            <a:ext cx="73152" cy="73152"/>
          </a:xfrm>
          <a:prstGeom prst="ellipse">
            <a:avLst/>
          </a:prstGeom>
          <a:solidFill>
            <a:srgbClr val="3DADA0"/>
          </a:solidFill>
          <a:ln w="12700">
            <a:solidFill>
              <a:srgbClr val="3DAD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9227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자동 인증서 발급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4453128"/>
            <a:ext cx="73152" cy="73152"/>
          </a:xfrm>
          <a:prstGeom prst="ellipse">
            <a:avLst/>
          </a:prstGeom>
          <a:solidFill>
            <a:srgbClr val="3DADA0"/>
          </a:solidFill>
          <a:ln w="12700">
            <a:solidFill>
              <a:srgbClr val="3DAD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3799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Edge Functions — API 프록시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외부 서비스 연동 계획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36576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350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Data API v3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 주수 기반 관련 영상 자동 검색 (놀이·발달·수면·예방접종)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267712"/>
            <a:ext cx="3840480" cy="237744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제약: 일 10,000 쿼리 무료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14800" cy="36576"/>
          </a:xfrm>
          <a:prstGeom prst="rect">
            <a:avLst/>
          </a:prstGeom>
          <a:solidFill>
            <a:srgbClr val="FF6F1E"/>
          </a:solidFill>
          <a:ln w="12700">
            <a:solidFill>
              <a:srgbClr val="FF6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1097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당근마켓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3350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딥링크 + 웹 URL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16459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육아 용품 검색어 자동 생성 후 당근앱/웹으로 이동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64608" y="2267712"/>
            <a:ext cx="3840480" cy="237744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2677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제약: 공개 API 미제공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4114800" cy="36576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2926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비대면 진료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1638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내보내기 + 딥링크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34747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닥터나우·솜닥 앱 연결, 건강 기록 PDF 직접 첨부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" y="4096512"/>
            <a:ext cx="3840480" cy="237744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96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제약: 직접 API 연동 불가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34640"/>
            <a:ext cx="4114800" cy="36576"/>
          </a:xfrm>
          <a:prstGeom prst="rect">
            <a:avLst/>
          </a:prstGeom>
          <a:solidFill>
            <a:srgbClr val="3DADA0"/>
          </a:solidFill>
          <a:ln w="12700">
            <a:solidFill>
              <a:srgbClr val="3DAD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03520" y="2926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인프라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31638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A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Workers + Web Push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64608" y="34747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예방접종 D-1, 투약 시간 — 앱 종료 상태에서도 알림 전송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64608" y="4096512"/>
            <a:ext cx="3840480" cy="237744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096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제약: 무료 100,000 req/일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개발 일정 계획 (16~20주)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412480" cy="91440"/>
          </a:xfrm>
          <a:prstGeom prst="rect">
            <a:avLst/>
          </a:prstGeom>
          <a:solidFill>
            <a:srgbClr val="D8D6CC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115568"/>
            <a:ext cx="256032" cy="25603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36192"/>
            <a:ext cx="20116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36192"/>
            <a:ext cx="2011680" cy="4754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3619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구축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79222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1~4주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" y="2176272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0848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구조·4탭 레이아웃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724912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6334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시간표 기록 UI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273552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1821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저장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822192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73075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기본 설정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92424" y="1115568"/>
            <a:ext cx="256032" cy="256032"/>
          </a:xfrm>
          <a:prstGeom prst="ellipse">
            <a:avLst/>
          </a:prstGeom>
          <a:solidFill>
            <a:srgbClr val="B86A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1536192"/>
            <a:ext cx="20116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86A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1536192"/>
            <a:ext cx="2011680" cy="475488"/>
          </a:xfrm>
          <a:prstGeom prst="rect">
            <a:avLst/>
          </a:prstGeom>
          <a:solidFill>
            <a:srgbClr val="B86ACC"/>
          </a:solidFill>
          <a:ln w="12700">
            <a:solidFill>
              <a:srgbClr val="B86A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53619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연동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179222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5~8주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24328" y="2176272"/>
            <a:ext cx="91440" cy="91440"/>
          </a:xfrm>
          <a:prstGeom prst="ellipse">
            <a:avLst/>
          </a:prstGeom>
          <a:solidFill>
            <a:srgbClr val="B86ACC"/>
          </a:solidFill>
          <a:ln w="12700">
            <a:solidFill>
              <a:srgbClr val="B86A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52344" y="20848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UI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24328" y="2724912"/>
            <a:ext cx="91440" cy="91440"/>
          </a:xfrm>
          <a:prstGeom prst="ellipse">
            <a:avLst/>
          </a:prstGeom>
          <a:solidFill>
            <a:srgbClr val="B86ACC"/>
          </a:solidFill>
          <a:ln w="12700">
            <a:solidFill>
              <a:srgbClr val="B86A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52344" y="26334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+ CF Worker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24328" y="3273552"/>
            <a:ext cx="91440" cy="91440"/>
          </a:xfrm>
          <a:prstGeom prst="ellipse">
            <a:avLst/>
          </a:prstGeom>
          <a:solidFill>
            <a:srgbClr val="B86ACC"/>
          </a:solidFill>
          <a:ln w="12700">
            <a:solidFill>
              <a:srgbClr val="B86A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52344" y="31821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일 관리 모듈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24328" y="3822192"/>
            <a:ext cx="91440" cy="91440"/>
          </a:xfrm>
          <a:prstGeom prst="ellipse">
            <a:avLst/>
          </a:prstGeom>
          <a:solidFill>
            <a:srgbClr val="B86ACC"/>
          </a:solidFill>
          <a:ln w="12700">
            <a:solidFill>
              <a:srgbClr val="B86A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52344" y="373075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월령 자동 스케줄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41264" y="1115568"/>
            <a:ext cx="256032" cy="256032"/>
          </a:xfrm>
          <a:prstGeom prst="ellipse">
            <a:avLst/>
          </a:prstGeom>
          <a:solidFill>
            <a:srgbClr val="4A8F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536192"/>
            <a:ext cx="20116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A8F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536192"/>
            <a:ext cx="2011680" cy="475488"/>
          </a:xfrm>
          <a:prstGeom prst="rect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53619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고도화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179222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9~13주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2176272"/>
            <a:ext cx="91440" cy="91440"/>
          </a:xfrm>
          <a:prstGeom prst="ellipse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20848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발달 체크·건강 기록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73168" y="2724912"/>
            <a:ext cx="91440" cy="91440"/>
          </a:xfrm>
          <a:prstGeom prst="ellipse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26334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인식 (STT)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3273552"/>
            <a:ext cx="91440" cy="91440"/>
          </a:xfrm>
          <a:prstGeom prst="ellipse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31821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카메라·IndexedDB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73168" y="3822192"/>
            <a:ext cx="91440" cy="91440"/>
          </a:xfrm>
          <a:prstGeom prst="ellipse">
            <a:avLst/>
          </a:prstGeom>
          <a:solidFill>
            <a:srgbClr val="4A8FC4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373075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푸시 알림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90104" y="1115568"/>
            <a:ext cx="256032" cy="256032"/>
          </a:xfrm>
          <a:prstGeom prst="ellipse">
            <a:avLst/>
          </a:prstGeom>
          <a:solidFill>
            <a:srgbClr val="8BC4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12280" y="1536192"/>
            <a:ext cx="20116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C4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12280" y="1536192"/>
            <a:ext cx="2011680" cy="475488"/>
          </a:xfrm>
          <a:prstGeom prst="rect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12280" y="153619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315200" y="15361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연동·완성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315200" y="179222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14~20주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22008" y="2176272"/>
            <a:ext cx="91440" cy="91440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0024" y="20848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YouTube·당근 연동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22008" y="2724912"/>
            <a:ext cx="91440" cy="91440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0024" y="263347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내보내기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22008" y="3273552"/>
            <a:ext cx="91440" cy="91440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50024" y="31821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정비·최적화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22008" y="3822192"/>
            <a:ext cx="91440" cy="91440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0024" y="373075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배포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리스크 관리 계획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3108960" cy="292608"/>
          </a:xfrm>
          <a:prstGeom prst="rect">
            <a:avLst/>
          </a:prstGeom>
          <a:solidFill>
            <a:srgbClr val="FF8C42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875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0" y="987552"/>
            <a:ext cx="868680" cy="292608"/>
          </a:xfrm>
          <a:prstGeom prst="rect">
            <a:avLst/>
          </a:prstGeom>
          <a:solidFill>
            <a:srgbClr val="2E2C26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9584" y="9875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 가능성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987552"/>
            <a:ext cx="868680" cy="292608"/>
          </a:xfrm>
          <a:prstGeom prst="rect">
            <a:avLst/>
          </a:prstGeom>
          <a:solidFill>
            <a:srgbClr val="2E2C26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8264" y="9875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영향도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0" y="987552"/>
            <a:ext cx="3840480" cy="292608"/>
          </a:xfrm>
          <a:prstGeom prst="rect">
            <a:avLst/>
          </a:prstGeom>
          <a:solidFill>
            <a:srgbClr val="2E2C26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944" y="987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 방안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280160"/>
            <a:ext cx="3108960" cy="292608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2801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비용 증가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1280160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1280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1280160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1280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0" y="1280160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944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 일일 요청 한도 설정, 응답 캐싱, 필요 시 유료 플랜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1883664"/>
            <a:ext cx="3108960" cy="292608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18836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푸시 알림 미지원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0" y="1883664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18836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1883664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8264" y="18836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1883664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1883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16.4+ 이상 동작, 하위 버전은 앱 내 알림 대체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487168"/>
            <a:ext cx="3108960" cy="292608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4871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데이터 유실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0" y="2487168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9584" y="24871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43400" y="2487168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98264" y="24871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0" y="2487168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24871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1부터 JSON 백업 기능 포함, 주기적 백업 유도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090672"/>
            <a:ext cx="3108960" cy="292608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090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 정보 오류 책임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0" y="3090672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9584" y="30906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43400" y="3090672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98264" y="30906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12080" y="3090672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66944" y="30906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답변에 "참고용 정보" 고지 및 전문의 상담 권고 필수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694176"/>
            <a:ext cx="3108960" cy="292608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369417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당근마켓 API 미제공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0" y="3694176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9584" y="36941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43400" y="3694176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98264" y="36941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12080" y="3694176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66944" y="36941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딥링크 방식 채택, 기능 안내 문구로 기대치 관리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4297680"/>
            <a:ext cx="3108960" cy="292608"/>
          </a:xfrm>
          <a:prstGeom prst="rect">
            <a:avLst/>
          </a:prstGeom>
          <a:solidFill>
            <a:srgbClr val="F0EFE8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4297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호환성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0" y="4297680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9584" y="42976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43400" y="4297680"/>
            <a:ext cx="868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98264" y="42976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212080" y="4297680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4297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크롬/사파리 우선 지원, 기능별 fallback, 정기 테스트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기대 효과 및 향후 계획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관점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438912"/>
          </a:xfrm>
          <a:prstGeom prst="rect">
            <a:avLst/>
          </a:prstGeom>
          <a:solidFill>
            <a:srgbClr val="FFF0E6"/>
          </a:solidFill>
          <a:ln w="12700">
            <a:solidFill>
              <a:srgbClr val="FFD0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463040"/>
            <a:ext cx="146304" cy="146304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533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육아 기록 통합 관리로 정보 분산 문제 해소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975104"/>
            <a:ext cx="146304" cy="146304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8653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월령별 자동 알람으로 중요 일정 누락 방지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4114800" cy="438912"/>
          </a:xfrm>
          <a:prstGeom prst="rect">
            <a:avLst/>
          </a:prstGeom>
          <a:solidFill>
            <a:srgbClr val="FFF0E6"/>
          </a:solidFill>
          <a:ln w="12700">
            <a:solidFill>
              <a:srgbClr val="FFD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487168"/>
            <a:ext cx="146304" cy="146304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3774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챗봇을 통한 24시간 즉각 육아 정보 접근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999232"/>
            <a:ext cx="146304" cy="146304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8895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비대면 진료 연계 준비 부담 경감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C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관점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353312"/>
            <a:ext cx="4114800" cy="438912"/>
          </a:xfrm>
          <a:prstGeom prst="rect">
            <a:avLst/>
          </a:prstGeom>
          <a:solidFill>
            <a:srgbClr val="EEF8DC"/>
          </a:solidFill>
          <a:ln w="12700">
            <a:solidFill>
              <a:srgbClr val="C4E0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1463040"/>
            <a:ext cx="146304" cy="146304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13533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방식 — 앱스토어 없이 즉시 배포·업데이트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86537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4E0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1975104"/>
            <a:ext cx="146304" cy="146304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18653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— 외부 의존성 없는 경량 유지보수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377440"/>
            <a:ext cx="4114800" cy="438912"/>
          </a:xfrm>
          <a:prstGeom prst="rect">
            <a:avLst/>
          </a:prstGeom>
          <a:solidFill>
            <a:srgbClr val="EEF8DC"/>
          </a:solidFill>
          <a:ln w="12700">
            <a:solidFill>
              <a:srgbClr val="C4E09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487168"/>
            <a:ext cx="146304" cy="146304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23774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서비스 연동 확장성 기반 확보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950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4E09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2999232"/>
            <a:ext cx="146304" cy="146304"/>
          </a:xfrm>
          <a:prstGeom prst="ellipse">
            <a:avLst/>
          </a:prstGeom>
          <a:solidFill>
            <a:srgbClr val="8BC44A"/>
          </a:solidFill>
          <a:ln w="12700">
            <a:solidFill>
              <a:srgbClr val="8BC4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28895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동기화·다중 기기 지원으로 고도화 가능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4930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확장 계획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2697480" cy="777240"/>
          </a:xfrm>
          <a:prstGeom prst="rect">
            <a:avLst/>
          </a:prstGeom>
          <a:solidFill>
            <a:srgbClr val="F0EFE8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221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 (6개월)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동기화 · 공동 양육자 공유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3822192"/>
            <a:ext cx="2697480" cy="777240"/>
          </a:xfrm>
          <a:prstGeom prst="rect">
            <a:avLst/>
          </a:prstGeom>
          <a:solidFill>
            <a:srgbClr val="F0EFE8"/>
          </a:solidFill>
          <a:ln w="12700">
            <a:solidFill>
              <a:srgbClr val="4A8F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8221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중기 (1년)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4114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통계 대시보드 · 콘텐츠 큐레이션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3822192"/>
            <a:ext cx="2697480" cy="777240"/>
          </a:xfrm>
          <a:prstGeom prst="rect">
            <a:avLst/>
          </a:prstGeom>
          <a:solidFill>
            <a:srgbClr val="F0EFE8"/>
          </a:solidFill>
          <a:ln w="12700">
            <a:solidFill>
              <a:srgbClr val="8B6F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38221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(2년)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4114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소아과 EMR 연동 · B2B 파트너십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아기돌봄 앱 개발 기획서  |  v1.0  |  2025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아기돌봄 앱 개발 기획서</dc:title>
  <dc:subject>PptxGenJS Presentation</dc:subject>
  <dc:creator>아기돌봄 프로젝트</dc:creator>
  <cp:lastModifiedBy>아기돌봄 프로젝트</cp:lastModifiedBy>
  <cp:revision>1</cp:revision>
  <dcterms:created xsi:type="dcterms:W3CDTF">2026-05-21T03:03:39Z</dcterms:created>
  <dcterms:modified xsi:type="dcterms:W3CDTF">2026-05-21T03:03:39Z</dcterms:modified>
</cp:coreProperties>
</file>